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651760" y="1801368"/>
            <a:ext cx="4297680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07792" y="1901952"/>
            <a:ext cx="36576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>
                <a:solidFill>
                  <a:srgbClr val="262626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7792" y="2377440"/>
            <a:ext cx="3566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78AF"/>
                </a:solidFill>
                <a:latin typeface="Aptos Display"/>
              </a:defRPr>
            </a:pPr>
            <a:r>
              <a:t>Argparse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6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argparse is a Python argument parser.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6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The argparse module provides a way to parse command-line arguments and options.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6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The source demonstrates handling command-line arguments and a custom error message.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60"/>
              </a:spcAft>
              <a:defRPr sz="1400">
                <a:solidFill>
                  <a:srgbClr val="262626"/>
                </a:solidFill>
                <a:latin typeface="Aptos"/>
              </a:defRPr>
            </a:pPr>
            <a:r>
              <a:t>Test cases cover an invalid argument, a single -a parameter, and both -a and -b parameters.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Argparse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The source demonstrates three command-line scenarios: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ERROR Scenario: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239">
                <a:solidFill>
                  <a:srgbClr val="262626"/>
                </a:solidFill>
                <a:latin typeface="Courier New"/>
              </a:defRPr>
            </a:pPr>
            <a:r>
              <a:t>python C:/tinitiate/argparse_test_cases.py -s 100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Single Parameter -a Scenario: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239">
                <a:solidFill>
                  <a:srgbClr val="262626"/>
                </a:solidFill>
                <a:latin typeface="Courier New"/>
              </a:defRPr>
            </a:pPr>
            <a:r>
              <a:t>python C:/tinitiate/argparse_test_cases.py -a 100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Double Parameter -a and -b Scenario: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239">
                <a:solidFill>
                  <a:srgbClr val="262626"/>
                </a:solidFill>
                <a:latin typeface="Courier New"/>
              </a:defRPr>
            </a:pPr>
            <a:r>
              <a:t>python C:/tinitiate/argparse_test_cases.py -a 100 -b 2000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Argparse Test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  <a:spcAft>
                <a:spcPts val="60"/>
              </a:spcAft>
              <a:defRPr sz="1240">
                <a:solidFill>
                  <a:srgbClr val="262626"/>
                </a:solidFill>
                <a:latin typeface="Aptos"/>
              </a:defRPr>
            </a:pPr>
            <a:r>
              <a:t>The example imports argparse and sys.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60"/>
              </a:spcAft>
              <a:defRPr sz="1240">
                <a:solidFill>
                  <a:srgbClr val="262626"/>
                </a:solidFill>
                <a:latin typeface="Aptos"/>
              </a:defRPr>
            </a:pPr>
            <a:r>
              <a:t>MyParser extends argparse.ArgumentParser to handle invalid arguments with a custom error method.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60"/>
              </a:spcAft>
              <a:defRPr sz="1160">
                <a:solidFill>
                  <a:srgbClr val="262626"/>
                </a:solidFill>
                <a:latin typeface="Courier New"/>
              </a:defRPr>
            </a:pPr>
            <a:r>
              <a:t>class MyParser(argparse.ArgumentParser):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60"/>
              </a:spcAft>
              <a:defRPr sz="1160">
                <a:solidFill>
                  <a:srgbClr val="262626"/>
                </a:solidFill>
                <a:latin typeface="Courier New"/>
              </a:defRPr>
            </a:pPr>
            <a:r>
              <a:t>    def error(self, message):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60"/>
              </a:spcAft>
              <a:defRPr sz="1160">
                <a:solidFill>
                  <a:srgbClr val="262626"/>
                </a:solidFill>
                <a:latin typeface="Courier New"/>
              </a:defRPr>
            </a:pPr>
            <a:r>
              <a:t>        print("")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60"/>
              </a:spcAft>
              <a:defRPr sz="1160">
                <a:solidFill>
                  <a:srgbClr val="262626"/>
                </a:solidFill>
                <a:latin typeface="Courier New"/>
              </a:defRPr>
            </a:pPr>
            <a:r>
              <a:t>        self.print_help()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60"/>
              </a:spcAft>
              <a:defRPr sz="1160">
                <a:solidFill>
                  <a:srgbClr val="262626"/>
                </a:solidFill>
                <a:latin typeface="Courier New"/>
              </a:defRPr>
            </a:pPr>
            <a:r>
              <a:t>        sys.exit(2)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60"/>
              </a:spcAft>
              <a:defRPr sz="1240">
                <a:solidFill>
                  <a:srgbClr val="262626"/>
                </a:solidFill>
                <a:latin typeface="Aptos"/>
              </a:defRPr>
            </a:pPr>
            <a:r>
              <a:t>When an invalid argument is supplied, the parser prints the help information and exits with status 2.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Custom Argument Parser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  <a:spcAft>
                <a:spcPts val="60"/>
              </a:spcAft>
              <a:defRPr sz="1240">
                <a:solidFill>
                  <a:srgbClr val="262626"/>
                </a:solidFill>
                <a:latin typeface="Aptos"/>
              </a:defRPr>
            </a:pPr>
            <a:r>
              <a:t>The function a() handles the arguments and their values to perform an action.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60"/>
              </a:spcAft>
              <a:defRPr sz="1240">
                <a:solidFill>
                  <a:srgbClr val="262626"/>
                </a:solidFill>
                <a:latin typeface="Aptos"/>
              </a:defRPr>
            </a:pPr>
            <a:r>
              <a:t>Its parameters are a=1, b=1, c="", and **kwargs.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60"/>
              </a:spcAft>
              <a:defRPr sz="1160">
                <a:solidFill>
                  <a:srgbClr val="262626"/>
                </a:solidFill>
                <a:latin typeface="Courier New"/>
              </a:defRPr>
            </a:pPr>
            <a:r>
              <a:t>def a(a=1, b=1, c="", **kwargs):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60"/>
              </a:spcAft>
              <a:defRPr sz="1160">
                <a:solidFill>
                  <a:srgbClr val="262626"/>
                </a:solidFill>
                <a:latin typeface="Courier New"/>
              </a:defRPr>
            </a:pPr>
            <a:r>
              <a:t>    if a is not None: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60"/>
              </a:spcAft>
              <a:defRPr sz="1160">
                <a:solidFill>
                  <a:srgbClr val="262626"/>
                </a:solidFill>
                <a:latin typeface="Courier New"/>
              </a:defRPr>
            </a:pPr>
            <a:r>
              <a:t>        print("a", a)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60"/>
              </a:spcAft>
              <a:defRPr sz="1160">
                <a:solidFill>
                  <a:srgbClr val="262626"/>
                </a:solidFill>
                <a:latin typeface="Courier New"/>
              </a:defRPr>
            </a:pPr>
            <a:r>
              <a:t>    elif b is not None: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60"/>
              </a:spcAft>
              <a:defRPr sz="1160">
                <a:solidFill>
                  <a:srgbClr val="262626"/>
                </a:solidFill>
                <a:latin typeface="Courier New"/>
              </a:defRPr>
            </a:pPr>
            <a:r>
              <a:t>        print("b", b)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60"/>
              </a:spcAft>
              <a:defRPr sz="1160">
                <a:solidFill>
                  <a:srgbClr val="262626"/>
                </a:solidFill>
                <a:latin typeface="Courier New"/>
              </a:defRPr>
            </a:pPr>
            <a:r>
              <a:t>    elif b is not None: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60"/>
              </a:spcAft>
              <a:defRPr sz="1160">
                <a:solidFill>
                  <a:srgbClr val="262626"/>
                </a:solidFill>
                <a:latin typeface="Courier New"/>
              </a:defRPr>
            </a:pPr>
            <a:r>
              <a:t>        print("c is selected")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60"/>
              </a:spcAft>
              <a:defRPr sz="1240">
                <a:solidFill>
                  <a:srgbClr val="262626"/>
                </a:solidFill>
                <a:latin typeface="Aptos"/>
              </a:defRPr>
            </a:pPr>
            <a:r>
              <a:t>The function prints the selected argument value according to the conditions.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Argument Handling Function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The main function runs under the __main__ guard.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parser = MyParser() creates the custom argument parser.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239">
                <a:solidFill>
                  <a:srgbClr val="262626"/>
                </a:solidFill>
                <a:latin typeface="Courier New"/>
              </a:defRPr>
            </a:pPr>
            <a:r>
              <a:t>parser.set_defaults(method = a) sets the default method to function a.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The parser is then configured with three command-line arguments.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The -a and -b switches accept integer values and default to 1.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The -c switch is a Boolean flag using action='store_true'.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t>Creating and Configuring the Parser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The source defines the following arguments: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239">
                <a:solidFill>
                  <a:srgbClr val="262626"/>
                </a:solidFill>
                <a:latin typeface="Courier New"/>
              </a:defRPr>
            </a:pPr>
            <a:r>
              <a:t>parser.add_argument('-a', help="this is -a switch", default=1, type=int)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239">
                <a:solidFill>
                  <a:srgbClr val="262626"/>
                </a:solidFill>
                <a:latin typeface="Courier New"/>
              </a:defRPr>
            </a:pPr>
            <a:r>
              <a:t>parser.add_argument('-b', help="this is -b switch", default=1, type=int)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239">
                <a:solidFill>
                  <a:srgbClr val="262626"/>
                </a:solidFill>
                <a:latin typeface="Courier New"/>
              </a:defRPr>
            </a:pPr>
            <a:r>
              <a:t>parser.add_argument('-c', help="-c switch without parameters", action='store_true')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-a and -b receive integer values; -c is selected without a parameter.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These definitions control how command-line input is parsed.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Adding Command-Line Arguments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After the arguments are configured, parse_args() reads the command-line input.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args = parser.parse_args()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The parsed values are passed to the configured method: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239">
                <a:solidFill>
                  <a:srgbClr val="262626"/>
                </a:solidFill>
                <a:latin typeface="Courier New"/>
              </a:defRPr>
            </a:pPr>
            <a:r>
              <a:t>args.method(**vars(args))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vars(args) converts the parsed argument namespace into a dictionary.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The dictionary is expanded with ** and supplied to function a().</a:t>
            </a:r>
          </a:p>
          <a:p>
            <a:pPr>
              <a:lnSpc>
                <a:spcPct val="86000"/>
              </a:lnSpc>
              <a:spcBef>
                <a:spcPts val="0"/>
              </a:spcBef>
              <a:spcAft>
                <a:spcPts val="60"/>
              </a:spcAft>
              <a:defRPr sz="1320">
                <a:solidFill>
                  <a:srgbClr val="262626"/>
                </a:solidFill>
                <a:latin typeface="Aptos"/>
              </a:defRPr>
            </a:pPr>
            <a:r>
              <a:t>This connects command-line arguments to the function that performs the action.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t>Parsing and Executing Arguments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