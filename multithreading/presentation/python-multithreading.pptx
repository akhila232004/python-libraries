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app0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99" d="100"/>
          <a:sy n="99" d="100"/>
        </p:scale>
        <p:origin x="922" y="7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134E7D-49ED-482F-9BF8-EC2069035908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BDB87D-F372-432B-9EEE-5860B20B30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9778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68573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AB178-5635-8840-5E62-E54051D00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F84F13-EA08-0290-13D3-7252D1E9FF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13BFDB-15C2-7DD7-77D9-96ACC38CD7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F29A1-F9C2-D038-CFDD-8DE0C08EB8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380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6224C-CD36-74A7-A8AB-0D04FF82E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560F90-93FA-ED38-8235-FA0BBD117C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701F12-C90A-6620-29DD-58655AA005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31DEDF-71BE-2593-79A1-E78DC33568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1971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35285-834B-BC63-6D0B-710865EE9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AE3A3E-370F-9C8F-08B7-CA13F2D18F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54ED04-2E75-7CC6-4968-69F6279D0D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485C3-6F72-04C7-7687-CEF32C7B20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469793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B761509-3B9A-49A6-A84B-C3D868116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998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91DE43FD-EB47-414A-B0AB-169B0FFF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954691" cy="5143500"/>
          </a:xfrm>
          <a:custGeom>
            <a:avLst/>
            <a:gdLst>
              <a:gd name="connsiteX0" fmla="*/ 0 w 9272922"/>
              <a:gd name="connsiteY0" fmla="*/ 0 h 6858000"/>
              <a:gd name="connsiteX1" fmla="*/ 1733417 w 9272922"/>
              <a:gd name="connsiteY1" fmla="*/ 0 h 6858000"/>
              <a:gd name="connsiteX2" fmla="*/ 3307976 w 9272922"/>
              <a:gd name="connsiteY2" fmla="*/ 0 h 6858000"/>
              <a:gd name="connsiteX3" fmla="*/ 8126249 w 9272922"/>
              <a:gd name="connsiteY3" fmla="*/ 0 h 6858000"/>
              <a:gd name="connsiteX4" fmla="*/ 8138896 w 9272922"/>
              <a:gd name="connsiteY4" fmla="*/ 31774 h 6858000"/>
              <a:gd name="connsiteX5" fmla="*/ 9193904 w 9272922"/>
              <a:gd name="connsiteY5" fmla="*/ 2682457 h 6858000"/>
              <a:gd name="connsiteX6" fmla="*/ 9193904 w 9272922"/>
              <a:gd name="connsiteY6" fmla="*/ 3752208 h 6858000"/>
              <a:gd name="connsiteX7" fmla="*/ 8036400 w 9272922"/>
              <a:gd name="connsiteY7" fmla="*/ 6660411 h 6858000"/>
              <a:gd name="connsiteX8" fmla="*/ 7957938 w 9272922"/>
              <a:gd name="connsiteY8" fmla="*/ 6857542 h 6858000"/>
              <a:gd name="connsiteX9" fmla="*/ 3307976 w 9272922"/>
              <a:gd name="connsiteY9" fmla="*/ 6857542 h 6858000"/>
              <a:gd name="connsiteX10" fmla="*/ 3307976 w 9272922"/>
              <a:gd name="connsiteY10" fmla="*/ 6858000 h 6858000"/>
              <a:gd name="connsiteX11" fmla="*/ 0 w 9272922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72922" h="6858000">
                <a:moveTo>
                  <a:pt x="0" y="0"/>
                </a:moveTo>
                <a:lnTo>
                  <a:pt x="1733417" y="0"/>
                </a:lnTo>
                <a:lnTo>
                  <a:pt x="3307976" y="0"/>
                </a:lnTo>
                <a:lnTo>
                  <a:pt x="8126249" y="0"/>
                </a:lnTo>
                <a:lnTo>
                  <a:pt x="8138896" y="31774"/>
                </a:lnTo>
                <a:cubicBezTo>
                  <a:pt x="9193904" y="2682457"/>
                  <a:pt x="9193904" y="2682457"/>
                  <a:pt x="9193904" y="2682457"/>
                </a:cubicBezTo>
                <a:cubicBezTo>
                  <a:pt x="9299262" y="2988100"/>
                  <a:pt x="9299262" y="3446565"/>
                  <a:pt x="9193904" y="3752208"/>
                </a:cubicBezTo>
                <a:cubicBezTo>
                  <a:pt x="8709916" y="4968215"/>
                  <a:pt x="8331802" y="5918220"/>
                  <a:pt x="8036400" y="6660411"/>
                </a:cubicBezTo>
                <a:lnTo>
                  <a:pt x="7957938" y="6857542"/>
                </a:lnTo>
                <a:lnTo>
                  <a:pt x="3307976" y="6857542"/>
                </a:lnTo>
                <a:lnTo>
                  <a:pt x="3307976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8495BCC-CE77-4CC2-952E-846F41119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870420" y="806391"/>
            <a:ext cx="1171701" cy="879729"/>
            <a:chOff x="9160561" y="1075188"/>
            <a:chExt cx="1562267" cy="1172973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1B42538B-E30F-4967-A6C1-8EBA775F4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423846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9A6BD9AC-4DE7-4B20-8547-4E3B375C2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75188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14" name="Picture 13" descr="python_tinitiate_for_p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736" y="1619573"/>
            <a:ext cx="6540285" cy="1666364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54864"/>
            <a:ext cx="3383280" cy="448056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578608" y="1719072"/>
            <a:ext cx="452628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61488" y="1847088"/>
            <a:ext cx="4160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0000"/>
                </a:solidFill>
                <a:latin typeface="Aptos Display"/>
              </a:defRPr>
            </a:pPr>
            <a:r>
              <a:t>Python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24912" y="2221992"/>
            <a:ext cx="422452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000000"/>
                </a:solidFill>
                <a:latin typeface="Aptos Display"/>
              </a:defRPr>
            </a:pPr>
            <a:r>
              <a:t>Multithreading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rm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5100AE7-B4CE-4703-F358-F4BAF2D30DD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141C7C-3443-7A24-02CA-7F1A88C4E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01A118D-1234-1B31-9E92-93786F2EBAD2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Multithreading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350">
                <a:solidFill>
                  <a:srgbClr val="000000"/>
                </a:solidFill>
                <a:latin typeface="Aptos"/>
              </a:defRPr>
            </a:pPr>
            <a:r>
              <a:t>Multithreading allows a Python program to run multiple threads within the same process.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50">
                <a:solidFill>
                  <a:srgbClr val="000000"/>
                </a:solidFill>
                <a:latin typeface="Aptos"/>
              </a:defRPr>
            </a:pPr>
            <a:r>
              <a:t>Threads share the process's memory and resources.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50">
                <a:solidFill>
                  <a:srgbClr val="000000"/>
                </a:solidFill>
                <a:latin typeface="Aptos"/>
              </a:defRPr>
            </a:pPr>
            <a:r>
              <a:t>It is useful for tasks involving waiting, such as I/O operations, where one thread can work while another waits.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BF5AD11-5B9F-A785-1D82-481088F131F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FE3969-0689-9F53-67D3-D6FF33D11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D98EA23-8882-5003-0F78-44BABF9433F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Thread Module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1220">
                <a:solidFill>
                  <a:srgbClr val="000000"/>
                </a:solidFill>
                <a:latin typeface="Aptos"/>
              </a:defRPr>
            </a:pPr>
            <a:r>
              <a:t>Python provides the threading module for creating and managing threads.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20">
                <a:solidFill>
                  <a:srgbClr val="000000"/>
                </a:solidFill>
                <a:latin typeface="Aptos"/>
              </a:defRPr>
            </a:pPr>
            <a:r>
              <a:t>A Thread object represents a thread of execution.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20">
                <a:solidFill>
                  <a:srgbClr val="000000"/>
                </a:solidFill>
                <a:latin typeface="Aptos"/>
              </a:defRPr>
            </a:pPr>
            <a:r>
              <a:t>Example: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20">
                <a:solidFill>
                  <a:srgbClr val="000000"/>
                </a:solidFill>
                <a:latin typeface="Aptos"/>
              </a:defRPr>
            </a:pPr>
            <a:r>
              <a:t>import threading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20">
                <a:solidFill>
                  <a:srgbClr val="000000"/>
                </a:solidFill>
                <a:latin typeface="Aptos"/>
              </a:defRPr>
            </a:pPr>
            <a:r>
              <a:t>def task():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20">
                <a:solidFill>
                  <a:srgbClr val="000000"/>
                </a:solidFill>
                <a:latin typeface="Aptos"/>
              </a:defRPr>
            </a:pPr>
            <a:r>
              <a:t>    print('Task running')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20">
                <a:solidFill>
                  <a:srgbClr val="000000"/>
                </a:solidFill>
                <a:latin typeface="Aptos"/>
              </a:defRPr>
            </a:pPr>
            <a:r>
              <a:t>thread = threading.Thread(target=task)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A2D33-04D9-A050-2BFF-8B6A7E0C2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BF966-9670-278E-FD28-D2A5005DA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3369F39-152B-BE89-CE6D-D44ABC4F0BC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F5BD11-E366-297A-BD41-2BE193408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D922F1F-68BD-1368-889A-9294A19DADB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Starting a Thread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1250">
                <a:solidFill>
                  <a:srgbClr val="000000"/>
                </a:solidFill>
                <a:latin typeface="Aptos"/>
              </a:defRPr>
            </a:pPr>
            <a:r>
              <a:t>Call start() to begin execution of the thread.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50">
                <a:solidFill>
                  <a:srgbClr val="000000"/>
                </a:solidFill>
                <a:latin typeface="Aptos"/>
              </a:defRPr>
            </a:pPr>
            <a:r>
              <a:t>The target function runs in the new thread.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50">
                <a:solidFill>
                  <a:srgbClr val="000000"/>
                </a:solidFill>
                <a:latin typeface="Aptos"/>
              </a:defRPr>
            </a:pPr>
            <a:r>
              <a:t>Example: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50">
                <a:solidFill>
                  <a:srgbClr val="000000"/>
                </a:solidFill>
                <a:latin typeface="Aptos"/>
              </a:defRPr>
            </a:pPr>
            <a:r>
              <a:t>thread = threading.Thread(target=task)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50">
                <a:solidFill>
                  <a:srgbClr val="000000"/>
                </a:solidFill>
                <a:latin typeface="Aptos"/>
              </a:defRPr>
            </a:pPr>
            <a:r>
              <a:t>thread.start()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50">
                <a:solidFill>
                  <a:srgbClr val="000000"/>
                </a:solidFill>
                <a:latin typeface="Aptos"/>
              </a:defRPr>
            </a:pPr>
            <a:r>
              <a:t>The main program can continue while the thread performs its work.</a:t>
            </a:r>
          </a:p>
        </p:txBody>
      </p:sp>
    </p:spTree>
    <p:extLst>
      <p:ext uri="{BB962C8B-B14F-4D97-AF65-F5344CB8AC3E}">
        <p14:creationId xmlns:p14="http://schemas.microsoft.com/office/powerpoint/2010/main" val="508294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20A00-D5B4-1EC4-8961-6732A9C5A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6D4FD-1BC3-15BD-2CE8-F7EE4EF4E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4D7EBBE-1ABA-05F3-17A8-F1B91B98D88C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7B73D7-AB5F-373B-EB74-6EA5E76059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044EC7F-FDAC-B2F3-C3CD-42E8DBE05DD7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Joining Threads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1080">
                <a:solidFill>
                  <a:srgbClr val="000000"/>
                </a:solidFill>
                <a:latin typeface="Aptos"/>
              </a:defRPr>
            </a:pPr>
            <a:r>
              <a:t>join() makes the calling thread wait until the target thread finishes.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80">
                <a:solidFill>
                  <a:srgbClr val="000000"/>
                </a:solidFill>
                <a:latin typeface="Aptos"/>
              </a:defRPr>
            </a:pPr>
            <a:r>
              <a:t>It is useful when the program must wait for worker threads before continuing.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80">
                <a:solidFill>
                  <a:srgbClr val="000000"/>
                </a:solidFill>
                <a:latin typeface="Aptos"/>
              </a:defRPr>
            </a:pPr>
            <a:r>
              <a:t>Example: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080">
                <a:solidFill>
                  <a:srgbClr val="000000"/>
                </a:solidFill>
                <a:latin typeface="Aptos"/>
              </a:defRPr>
            </a:pPr>
            <a:r>
              <a:t>t1 = threading.Thread(target=task)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080">
                <a:solidFill>
                  <a:srgbClr val="000000"/>
                </a:solidFill>
                <a:latin typeface="Aptos"/>
              </a:defRPr>
            </a:pPr>
            <a:r>
              <a:t>t2 = threading.Thread(target=task)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080">
                <a:solidFill>
                  <a:srgbClr val="000000"/>
                </a:solidFill>
                <a:latin typeface="Aptos"/>
              </a:defRPr>
            </a:pPr>
            <a:r>
              <a:t>t1.start()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080">
                <a:solidFill>
                  <a:srgbClr val="000000"/>
                </a:solidFill>
                <a:latin typeface="Aptos"/>
              </a:defRPr>
            </a:pPr>
            <a:r>
              <a:t>t2.start()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080">
                <a:solidFill>
                  <a:srgbClr val="000000"/>
                </a:solidFill>
                <a:latin typeface="Aptos"/>
              </a:defRPr>
            </a:pPr>
            <a:r>
              <a:t>t1.join()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080">
                <a:solidFill>
                  <a:srgbClr val="000000"/>
                </a:solidFill>
                <a:latin typeface="Aptos"/>
              </a:defRPr>
            </a:pPr>
            <a:r>
              <a:t>t2.join()</a:t>
            </a:r>
          </a:p>
        </p:txBody>
      </p:sp>
    </p:spTree>
    <p:extLst>
      <p:ext uri="{BB962C8B-B14F-4D97-AF65-F5344CB8AC3E}">
        <p14:creationId xmlns:p14="http://schemas.microsoft.com/office/powerpoint/2010/main" val="643564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611BD-77F8-E55A-5E63-76ED064D7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08E9F-8AE1-6043-376B-183BE657F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AB09392-70BD-C41E-9119-5CB1550D0800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D35F03-1C73-0957-6854-622D4EA127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B519B1A-B04E-08F2-912D-4D85DE4CCCB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Thread Synchronization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1180">
                <a:solidFill>
                  <a:srgbClr val="000000"/>
                </a:solidFill>
                <a:latin typeface="Aptos"/>
              </a:defRPr>
            </a:pPr>
            <a:r>
              <a:t>Multiple threads may access shared data at the same time.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80">
                <a:solidFill>
                  <a:srgbClr val="000000"/>
                </a:solidFill>
                <a:latin typeface="Aptos"/>
              </a:defRPr>
            </a:pPr>
            <a:r>
              <a:t>Synchronization mechanisms help prevent inconsistent results caused by simultaneous access.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80">
                <a:solidFill>
                  <a:srgbClr val="000000"/>
                </a:solidFill>
                <a:latin typeface="Aptos"/>
              </a:defRPr>
            </a:pPr>
            <a:r>
              <a:t>A Lock can ensure that only one thread enters a critical section at a time.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80">
                <a:solidFill>
                  <a:srgbClr val="000000"/>
                </a:solidFill>
                <a:latin typeface="Aptos"/>
              </a:defRPr>
            </a:pPr>
            <a:r>
              <a:t>Example: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080">
                <a:solidFill>
                  <a:srgbClr val="000000"/>
                </a:solidFill>
                <a:latin typeface="Aptos"/>
              </a:defRPr>
            </a:pPr>
            <a:r>
              <a:t>lock = threading.Lock()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080">
                <a:solidFill>
                  <a:srgbClr val="000000"/>
                </a:solidFill>
                <a:latin typeface="Aptos"/>
              </a:defRPr>
            </a:pPr>
            <a:r>
              <a:t>with lock: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80">
                <a:solidFill>
                  <a:srgbClr val="000000"/>
                </a:solidFill>
                <a:latin typeface="Aptos"/>
              </a:defRPr>
            </a:pPr>
            <a:r>
              <a:t>    # access shared data</a:t>
            </a:r>
          </a:p>
        </p:txBody>
      </p:sp>
    </p:spTree>
    <p:extLst>
      <p:ext uri="{BB962C8B-B14F-4D97-AF65-F5344CB8AC3E}">
        <p14:creationId xmlns:p14="http://schemas.microsoft.com/office/powerpoint/2010/main" val="3822659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B3E26-D998-5DE4-B11B-325A906DC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ED347-4EF7-A77F-FB81-FCDC902C4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6AA3743-94AC-0B3B-5AAF-F0C53980992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46F3E4-0D65-C7C7-3640-5718851D80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A6627A5-5232-56B0-51A0-258627AF6C1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Threading Considerations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1200">
                <a:solidFill>
                  <a:srgbClr val="000000"/>
                </a:solidFill>
                <a:latin typeface="Aptos"/>
              </a:defRPr>
            </a:pPr>
            <a:r>
              <a:t>Threads share memory, so shared mutable data must be handled carefully.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00">
                <a:solidFill>
                  <a:srgbClr val="000000"/>
                </a:solidFill>
                <a:latin typeface="Aptos"/>
              </a:defRPr>
            </a:pPr>
            <a:r>
              <a:t>Python's Global Interpreter Lock (GIL) limits execution of Python bytecode to one thread at a time in standard CPython.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00">
                <a:solidFill>
                  <a:srgbClr val="000000"/>
                </a:solidFill>
                <a:latin typeface="Aptos"/>
              </a:defRPr>
            </a:pPr>
            <a:r>
              <a:t>Threading is therefore commonly useful for I/O-bound work rather than CPU-bound parallel computation.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00">
                <a:solidFill>
                  <a:srgbClr val="000000"/>
                </a:solidFill>
                <a:latin typeface="Aptos"/>
              </a:defRPr>
            </a:pPr>
            <a:r>
              <a:t>For CPU-bound work, multiprocessing can be a better choice.</a:t>
            </a:r>
          </a:p>
        </p:txBody>
      </p:sp>
    </p:spTree>
    <p:extLst>
      <p:ext uri="{BB962C8B-B14F-4D97-AF65-F5344CB8AC3E}">
        <p14:creationId xmlns:p14="http://schemas.microsoft.com/office/powerpoint/2010/main" val="4085219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7C24B-E62C-5C11-CC13-CCDE03FBE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33A89-CD63-902F-B1BC-ECC04D74E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0B76DD8-7C62-9625-A36B-B5874AE7CFC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BA8D8E-1111-4AAF-5F72-ADDBBC7E89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533AB15-4F61-D0C5-47A3-22CB939B290F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Multithreading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1220">
                <a:solidFill>
                  <a:srgbClr val="000000"/>
                </a:solidFill>
                <a:latin typeface="Aptos"/>
              </a:defRPr>
            </a:pPr>
            <a:r>
              <a:t>1. Import the threading module.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20">
                <a:solidFill>
                  <a:srgbClr val="000000"/>
                </a:solidFill>
                <a:latin typeface="Aptos"/>
              </a:defRPr>
            </a:pPr>
            <a:r>
              <a:t>2. Define the task each worker thread should perform.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20">
                <a:solidFill>
                  <a:srgbClr val="000000"/>
                </a:solidFill>
                <a:latin typeface="Aptos"/>
              </a:defRPr>
            </a:pPr>
            <a:r>
              <a:t>3. Create Thread objects with the target function.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20">
                <a:solidFill>
                  <a:srgbClr val="000000"/>
                </a:solidFill>
                <a:latin typeface="Aptos"/>
              </a:defRPr>
            </a:pPr>
            <a:r>
              <a:t>4. Start the threads with start().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20">
                <a:solidFill>
                  <a:srgbClr val="000000"/>
                </a:solidFill>
                <a:latin typeface="Aptos"/>
              </a:defRPr>
            </a:pPr>
            <a:r>
              <a:t>5. Use synchronization when threads share mutable data.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20">
                <a:solidFill>
                  <a:srgbClr val="000000"/>
                </a:solidFill>
                <a:latin typeface="Aptos"/>
              </a:defRPr>
            </a:pPr>
            <a:r>
              <a:t>6. Use join() when the main program must wait for worker threads.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20">
                <a:solidFill>
                  <a:srgbClr val="000000"/>
                </a:solidFill>
                <a:latin typeface="Aptos"/>
              </a:defRPr>
            </a:pPr>
            <a:r>
              <a:t>7. Handle exceptions and shared resources carefully.</a:t>
            </a:r>
          </a:p>
        </p:txBody>
      </p:sp>
    </p:spTree>
    <p:extLst>
      <p:ext uri="{BB962C8B-B14F-4D97-AF65-F5344CB8AC3E}">
        <p14:creationId xmlns:p14="http://schemas.microsoft.com/office/powerpoint/2010/main" val="1166769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rgbClr val="1F497D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649</Words>
  <Application>Microsoft Office PowerPoint</Application>
  <PresentationFormat>On-screen Show (16:9)</PresentationFormat>
  <Paragraphs>76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Courier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Rohit K</cp:lastModifiedBy>
  <cp:revision>3</cp:revision>
  <dcterms:created xsi:type="dcterms:W3CDTF">2025-08-01T09:09:29Z</dcterms:created>
  <dcterms:modified xsi:type="dcterms:W3CDTF">2025-08-12T08:59:33Z</dcterms:modified>
</cp:coreProperties>
</file>