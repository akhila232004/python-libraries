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633472" y="1773936"/>
            <a:ext cx="4370832" cy="12252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1847088"/>
            <a:ext cx="4069080" cy="411480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F1F1F"/>
                </a:solidFill>
                <a:latin typeface="Aptos Display"/>
              </a:rP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1488" y="2313432"/>
            <a:ext cx="4114800" cy="438912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1F1F"/>
                </a:solidFill>
                <a:latin typeface="Aptos Display"/>
              </a:rPr>
              <a:t>ConfigParser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7824"/>
            <a:ext cx="8229600" cy="3392424"/>
          </a:xfrm>
        </p:spPr>
        <p:txBody>
          <a:bodyPr wrap="square" lIns="36576" rIns="36576" tIns="9144" bIns="9144">
            <a:noAutofit/>
          </a:bodyPr>
          <a:lstStyle/>
          <a:p>
            <a:pPr>
              <a:lnSpc>
                <a:spcPct val="78000"/>
              </a:lnSpc>
              <a:spcBef>
                <a:spcPts val="0"/>
              </a:spcBef>
              <a:spcAft>
                <a:spcPts val="200"/>
              </a:spcAft>
              <a:defRPr sz="1500">
                <a:solidFill>
                  <a:srgbClr val="275387"/>
                </a:solidFill>
              </a:defRPr>
            </a:pPr>
            <a:r>
              <a:rPr sz="1310">
                <a:solidFill>
                  <a:srgbClr val="232323"/>
                </a:solidFill>
                <a:latin typeface="Consolas"/>
              </a:rPr>
              <a:t>Python ConfigParser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300"/>
              </a:spcAft>
            </a:pPr>
            <a:r>
              <a:rPr sz="1400">
                <a:solidFill>
                  <a:srgbClr val="232323"/>
                </a:solidFill>
                <a:latin typeface="Aptos"/>
              </a:rPr>
              <a:t>Configuration files are plain text files that store settings and parameters for a program.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300"/>
              </a:spcAft>
            </a:pPr>
            <a:r>
              <a:rPr sz="1400">
                <a:solidFill>
                  <a:srgbClr val="232323"/>
                </a:solidFill>
                <a:latin typeface="Aptos"/>
              </a:rPr>
              <a:t>Python's built-in configparser module provides a simple API to read and write configuration files.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300"/>
              </a:spcAft>
            </a:pPr>
            <a:r>
              <a:rPr sz="1400">
                <a:solidFill>
                  <a:srgbClr val="232323"/>
                </a:solidFill>
                <a:latin typeface="Aptos"/>
              </a:rPr>
              <a:t>It supports .ini-style files with sections and key-value pairs, plus interpolation.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172200" cy="42062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ptos Display"/>
              </a:rPr>
              <a:t>ConfigParser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7824"/>
            <a:ext cx="8229600" cy="3392424"/>
          </a:xfrm>
        </p:spPr>
        <p:txBody>
          <a:bodyPr wrap="square" lIns="36576" rIns="36576" tIns="9144" bIns="9144">
            <a:noAutofit/>
          </a:bodyPr>
          <a:lstStyle/>
          <a:p>
            <a:pPr>
              <a:lnSpc>
                <a:spcPct val="74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275387"/>
                </a:solidFill>
              </a:defRPr>
            </a:pPr>
            <a:r>
              <a:rPr sz="1180">
                <a:solidFill>
                  <a:srgbClr val="232323"/>
                </a:solidFill>
                <a:latin typeface="Aptos"/>
              </a:rPr>
              <a:t>Create a ConfigParser object to work with configuration settings.</a:t>
            </a:r>
          </a:p>
          <a:p>
            <a:pPr>
              <a:lnSpc>
                <a:spcPct val="74000"/>
              </a:lnSpc>
              <a:spcBef>
                <a:spcPts val="0"/>
              </a:spcBef>
              <a:spcAft>
                <a:spcPts val="300"/>
              </a:spcAft>
            </a:pPr>
            <a:r>
              <a:rPr sz="1180">
                <a:solidFill>
                  <a:srgbClr val="232323"/>
                </a:solidFill>
                <a:latin typeface="Aptos"/>
              </a:rPr>
              <a:t>Sections group related settings, and each section contains key-value pairs.</a:t>
            </a:r>
          </a:p>
          <a:p>
            <a:pPr>
              <a:lnSpc>
                <a:spcPct val="74000"/>
              </a:lnSpc>
              <a:spcBef>
                <a:spcPts val="0"/>
              </a:spcBef>
              <a:spcAft>
                <a:spcPts val="300"/>
              </a:spcAft>
            </a:pPr>
            <a:r>
              <a:rPr sz="1180">
                <a:solidFill>
                  <a:srgbClr val="232323"/>
                </a:solidFill>
                <a:latin typeface="Aptos"/>
              </a:rPr>
              <a:t>Example configuration: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200"/>
              </a:spcAft>
            </a:pPr>
            <a:r>
              <a:rPr sz="1090">
                <a:solidFill>
                  <a:srgbClr val="232323"/>
                </a:solidFill>
                <a:latin typeface="Consolas"/>
              </a:rPr>
              <a:t>[DEFAULT]</a:t>
            </a:r>
            <a:br/>
            <a:r>
              <a:rPr sz="1090">
                <a:solidFill>
                  <a:srgbClr val="232323"/>
                </a:solidFill>
                <a:latin typeface="Consolas"/>
              </a:rPr>
              <a:t>debug = False</a:t>
            </a:r>
            <a:br/>
            <a:br/>
            <a:r>
              <a:rPr sz="1090">
                <a:solidFill>
                  <a:srgbClr val="232323"/>
                </a:solidFill>
                <a:latin typeface="Consolas"/>
              </a:rPr>
              <a:t>[web_server]</a:t>
            </a:r>
            <a:br/>
            <a:r>
              <a:rPr sz="1090">
                <a:solidFill>
                  <a:srgbClr val="232323"/>
                </a:solidFill>
                <a:latin typeface="Consolas"/>
              </a:rPr>
              <a:t>host = 127.0.0.1</a:t>
            </a:r>
            <a:br/>
            <a:r>
              <a:rPr sz="1090">
                <a:solidFill>
                  <a:srgbClr val="232323"/>
                </a:solidFill>
                <a:latin typeface="Consolas"/>
              </a:rPr>
              <a:t>port = 80</a:t>
            </a:r>
            <a:br/>
            <a:br/>
            <a:r>
              <a:rPr sz="1090">
                <a:solidFill>
                  <a:srgbClr val="232323"/>
                </a:solidFill>
                <a:latin typeface="Consolas"/>
              </a:rPr>
              <a:t>[database]</a:t>
            </a:r>
            <a:br/>
            <a:r>
              <a:rPr sz="1090">
                <a:solidFill>
                  <a:srgbClr val="232323"/>
                </a:solidFill>
                <a:latin typeface="Consolas"/>
              </a:rPr>
              <a:t>host = 127.0.0.1</a:t>
            </a:r>
            <a:br/>
            <a:r>
              <a:rPr sz="1090">
                <a:solidFill>
                  <a:srgbClr val="232323"/>
                </a:solidFill>
                <a:latin typeface="Consolas"/>
              </a:rPr>
              <a:t>port = 5432</a:t>
            </a:r>
          </a:p>
          <a:p>
            <a:pPr>
              <a:lnSpc>
                <a:spcPct val="74000"/>
              </a:lnSpc>
              <a:spcBef>
                <a:spcPts val="0"/>
              </a:spcBef>
              <a:spcAft>
                <a:spcPts val="300"/>
              </a:spcAft>
            </a:pPr>
            <a:r>
              <a:rPr sz="1180">
                <a:solidFill>
                  <a:srgbClr val="232323"/>
                </a:solidFill>
                <a:latin typeface="Aptos"/>
              </a:rPr>
              <a:t>The source uses test-data.ini as the sample configuration file.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172200" cy="42062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 Display"/>
              </a:rPr>
              <a:t>ConfigParser and Configuration Files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7824"/>
            <a:ext cx="8229600" cy="3392424"/>
          </a:xfrm>
        </p:spPr>
        <p:txBody>
          <a:bodyPr wrap="square" lIns="36576" rIns="36576" tIns="9144" bIns="9144">
            <a:noAutofit/>
          </a:bodyPr>
          <a:lstStyle/>
          <a:p>
            <a:pPr>
              <a:lnSpc>
                <a:spcPct val="74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275387"/>
                </a:solidFill>
              </a:defRPr>
            </a:pPr>
            <a:r>
              <a:rPr sz="1180">
                <a:solidFill>
                  <a:srgbClr val="232323"/>
                </a:solidFill>
                <a:latin typeface="Aptos"/>
              </a:rPr>
              <a:t>Use config.read() to load a configuration file.</a:t>
            </a:r>
          </a:p>
          <a:p>
            <a:pPr>
              <a:lnSpc>
                <a:spcPct val="74000"/>
              </a:lnSpc>
              <a:spcBef>
                <a:spcPts val="0"/>
              </a:spcBef>
              <a:spcAft>
                <a:spcPts val="300"/>
              </a:spcAft>
            </a:pPr>
            <a:r>
              <a:rPr sz="1180">
                <a:solidFill>
                  <a:srgbClr val="232323"/>
                </a:solidFill>
                <a:latin typeface="Aptos"/>
              </a:rPr>
              <a:t>get(), getint(), and getboolean() retrieve values in the required type.</a:t>
            </a:r>
          </a:p>
          <a:p>
            <a:pPr>
              <a:lnSpc>
                <a:spcPct val="74000"/>
              </a:lnSpc>
              <a:spcBef>
                <a:spcPts val="0"/>
              </a:spcBef>
              <a:spcAft>
                <a:spcPts val="300"/>
              </a:spcAft>
            </a:pPr>
            <a:r>
              <a:rPr sz="1180">
                <a:solidFill>
                  <a:srgbClr val="232323"/>
                </a:solidFill>
                <a:latin typeface="Aptos"/>
              </a:rPr>
              <a:t>Example: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200"/>
              </a:spcAft>
            </a:pPr>
            <a:r>
              <a:rPr sz="1090">
                <a:solidFill>
                  <a:srgbClr val="232323"/>
                </a:solidFill>
                <a:latin typeface="Consolas"/>
              </a:rPr>
              <a:t>import configparser</a:t>
            </a:r>
            <a:br/>
            <a:br/>
            <a:r>
              <a:rPr sz="1090">
                <a:solidFill>
                  <a:srgbClr val="232323"/>
                </a:solidFill>
                <a:latin typeface="Consolas"/>
              </a:rPr>
              <a:t>config = configparser.ConfigParser()</a:t>
            </a:r>
            <a:br/>
            <a:r>
              <a:rPr sz="1090">
                <a:solidFill>
                  <a:srgbClr val="232323"/>
                </a:solidFill>
                <a:latin typeface="Consolas"/>
              </a:rPr>
              <a:t>config.read('C:/tinitiate/test-data.ini')</a:t>
            </a:r>
            <a:br/>
            <a:br/>
            <a:r>
              <a:rPr sz="1090">
                <a:solidFill>
                  <a:srgbClr val="232323"/>
                </a:solidFill>
                <a:latin typeface="Consolas"/>
              </a:rPr>
              <a:t>debug = config.getboolean('DEFAULT', 'debug')</a:t>
            </a:r>
            <a:br/>
            <a:r>
              <a:rPr sz="1090">
                <a:solidFill>
                  <a:srgbClr val="232323"/>
                </a:solidFill>
                <a:latin typeface="Consolas"/>
              </a:rPr>
              <a:t>web_host = config.get('web_server', 'host')</a:t>
            </a:r>
            <a:br/>
            <a:r>
              <a:rPr sz="1090">
                <a:solidFill>
                  <a:srgbClr val="232323"/>
                </a:solidFill>
                <a:latin typeface="Consolas"/>
              </a:rPr>
              <a:t>web_port = config.getint('web_server', 'port')</a:t>
            </a:r>
            <a:br/>
            <a:br/>
            <a:r>
              <a:rPr sz="1090">
                <a:solidFill>
                  <a:srgbClr val="232323"/>
                </a:solidFill>
                <a:latin typeface="Consolas"/>
              </a:rPr>
              <a:t>db_host = config.get('database', 'host')</a:t>
            </a:r>
            <a:br/>
            <a:r>
              <a:rPr sz="1090">
                <a:solidFill>
                  <a:srgbClr val="232323"/>
                </a:solidFill>
                <a:latin typeface="Consolas"/>
              </a:rPr>
              <a:t>db_port = config.getint('database', 'port')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172200" cy="42062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ptos Display"/>
              </a:rPr>
              <a:t>Read Config File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7824"/>
            <a:ext cx="8229600" cy="3392424"/>
          </a:xfrm>
        </p:spPr>
        <p:txBody>
          <a:bodyPr wrap="square" lIns="36576" rIns="36576" tIns="9144" bIns="9144">
            <a:noAutofit/>
          </a:bodyPr>
          <a:lstStyle/>
          <a:p>
            <a:pPr>
              <a:lnSpc>
                <a:spcPct val="82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275387"/>
                </a:solidFill>
              </a:defRPr>
            </a:pPr>
            <a:r>
              <a:rPr sz="1300">
                <a:solidFill>
                  <a:srgbClr val="232323"/>
                </a:solidFill>
                <a:latin typeface="Aptos"/>
              </a:rPr>
              <a:t>Create a ConfigParser object and add sections with their options.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00"/>
              </a:spcAft>
            </a:pPr>
            <a:r>
              <a:rPr sz="1300">
                <a:solidFill>
                  <a:srgbClr val="232323"/>
                </a:solidFill>
                <a:latin typeface="Aptos"/>
              </a:rPr>
              <a:t>The configuration can then be written to a file with config.write().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00"/>
              </a:spcAft>
            </a:pPr>
            <a:r>
              <a:rPr sz="1300">
                <a:solidFill>
                  <a:srgbClr val="232323"/>
                </a:solidFill>
                <a:latin typeface="Aptos"/>
              </a:rPr>
              <a:t>Example: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200"/>
              </a:spcAft>
            </a:pPr>
            <a:r>
              <a:rPr sz="1210">
                <a:solidFill>
                  <a:srgbClr val="232323"/>
                </a:solidFill>
                <a:latin typeface="Consolas"/>
              </a:rPr>
              <a:t>import configparser</a:t>
            </a:r>
            <a:br/>
            <a:br/>
            <a:r>
              <a:rPr sz="1210">
                <a:solidFill>
                  <a:srgbClr val="232323"/>
                </a:solidFill>
                <a:latin typeface="Consolas"/>
              </a:rPr>
              <a:t>config = configparser.ConfigParser()</a:t>
            </a:r>
            <a:br/>
            <a:r>
              <a:rPr sz="1210">
                <a:solidFill>
                  <a:srgbClr val="232323"/>
                </a:solidFill>
                <a:latin typeface="Consolas"/>
              </a:rPr>
              <a:t>config['web_server'] = {'host': '127.0.0.1', 'port': '80'}</a:t>
            </a:r>
            <a:br/>
            <a:r>
              <a:rPr sz="1210">
                <a:solidFill>
                  <a:srgbClr val="232323"/>
                </a:solidFill>
                <a:latin typeface="Consolas"/>
              </a:rPr>
              <a:t>config['database'] = {'host': '127.0.0.1', 'port': '5432'}</a:t>
            </a:r>
            <a:br/>
            <a:br/>
            <a:r>
              <a:rPr sz="1210">
                <a:solidFill>
                  <a:srgbClr val="232323"/>
                </a:solidFill>
                <a:latin typeface="Consolas"/>
              </a:rPr>
              <a:t>with open('C:/tinitiate/config.ini', 'w') as configfile:</a:t>
            </a:r>
            <a:br/>
            <a:r>
              <a:rPr sz="1210">
                <a:solidFill>
                  <a:srgbClr val="232323"/>
                </a:solidFill>
                <a:latin typeface="Consolas"/>
              </a:rPr>
              <a:t>    config.write(configfile)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172200" cy="42062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ptos Display"/>
              </a:rPr>
              <a:t>Write Config File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7824"/>
            <a:ext cx="8229600" cy="3392424"/>
          </a:xfrm>
        </p:spPr>
        <p:txBody>
          <a:bodyPr wrap="square" lIns="36576" rIns="36576" tIns="9144" bIns="9144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275387"/>
                </a:solidFill>
              </a:defRPr>
            </a:pPr>
            <a:r>
              <a:rPr sz="1400">
                <a:solidFill>
                  <a:srgbClr val="232323"/>
                </a:solidFill>
                <a:latin typeface="Aptos"/>
              </a:rPr>
              <a:t>ConfigParser() enables basic interpolation by default.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300"/>
              </a:spcAft>
            </a:pPr>
            <a:r>
              <a:rPr sz="1400">
                <a:solidFill>
                  <a:srgbClr val="232323"/>
                </a:solidFill>
                <a:latin typeface="Aptos"/>
              </a:rPr>
              <a:t>A value can be built from other values in the same configuration section.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300"/>
              </a:spcAft>
            </a:pPr>
            <a:r>
              <a:rPr sz="1400">
                <a:solidFill>
                  <a:srgbClr val="232323"/>
                </a:solidFill>
                <a:latin typeface="Aptos"/>
              </a:rPr>
              <a:t>Example configuration: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200"/>
              </a:spcAft>
            </a:pPr>
            <a:r>
              <a:rPr sz="1310">
                <a:solidFill>
                  <a:srgbClr val="232323"/>
                </a:solidFill>
                <a:latin typeface="Consolas"/>
              </a:rPr>
              <a:t>[Settings]</a:t>
            </a:r>
            <a:br/>
            <a:r>
              <a:rPr sz="1310">
                <a:solidFill>
                  <a:srgbClr val="232323"/>
                </a:solidFill>
                <a:latin typeface="Consolas"/>
              </a:rPr>
              <a:t>data_dir = /path/to/data</a:t>
            </a:r>
            <a:br/>
            <a:r>
              <a:rPr sz="1310">
                <a:solidFill>
                  <a:srgbClr val="232323"/>
                </a:solidFill>
                <a:latin typeface="Consolas"/>
              </a:rPr>
              <a:t>file_name = myfile.txt</a:t>
            </a:r>
            <a:br/>
            <a:r>
              <a:rPr sz="1310">
                <a:solidFill>
                  <a:srgbClr val="232323"/>
                </a:solidFill>
                <a:latin typeface="Consolas"/>
              </a:rPr>
              <a:t>file_path = %(data_dir)s/%(file_name)s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300"/>
              </a:spcAft>
            </a:pPr>
            <a:r>
              <a:rPr sz="1400">
                <a:solidFill>
                  <a:srgbClr val="232323"/>
                </a:solidFill>
                <a:latin typeface="Aptos"/>
              </a:rPr>
              <a:t>Reading file_path resolves the references to data_dir and file_name.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172200" cy="42062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ptos Display"/>
              </a:rPr>
              <a:t>Interpolation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7824"/>
            <a:ext cx="8229600" cy="3392424"/>
          </a:xfrm>
        </p:spPr>
        <p:txBody>
          <a:bodyPr wrap="square" lIns="36576" rIns="36576" tIns="9144" bIns="9144">
            <a:noAutofit/>
          </a:bodyPr>
          <a:lstStyle/>
          <a:p>
            <a:pPr>
              <a:lnSpc>
                <a:spcPct val="74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275387"/>
                </a:solidFill>
              </a:defRPr>
            </a:pPr>
            <a:r>
              <a:rPr sz="1180">
                <a:solidFill>
                  <a:srgbClr val="232323"/>
                </a:solidFill>
                <a:latin typeface="Aptos"/>
              </a:rPr>
              <a:t>Interpolation is enabled by default when ConfigParser() is created.</a:t>
            </a:r>
          </a:p>
          <a:p>
            <a:pPr>
              <a:lnSpc>
                <a:spcPct val="74000"/>
              </a:lnSpc>
              <a:spcBef>
                <a:spcPts val="0"/>
              </a:spcBef>
              <a:spcAft>
                <a:spcPts val="300"/>
              </a:spcAft>
            </a:pPr>
            <a:r>
              <a:rPr sz="1180">
                <a:solidFill>
                  <a:srgbClr val="232323"/>
                </a:solidFill>
                <a:latin typeface="Aptos"/>
              </a:rPr>
              <a:t>To disable interpolation, pass interpolation=None.</a:t>
            </a:r>
          </a:p>
          <a:p>
            <a:pPr>
              <a:lnSpc>
                <a:spcPct val="74000"/>
              </a:lnSpc>
              <a:spcBef>
                <a:spcPts val="0"/>
              </a:spcBef>
              <a:spcAft>
                <a:spcPts val="300"/>
              </a:spcAft>
            </a:pPr>
            <a:r>
              <a:rPr sz="1180">
                <a:solidFill>
                  <a:srgbClr val="232323"/>
                </a:solidFill>
                <a:latin typeface="Aptos"/>
              </a:rPr>
              <a:t>Example:</a:t>
            </a:r>
          </a:p>
          <a:p>
            <a:pPr>
              <a:lnSpc>
                <a:spcPct val="78000"/>
              </a:lnSpc>
              <a:spcBef>
                <a:spcPts val="0"/>
              </a:spcBef>
              <a:spcAft>
                <a:spcPts val="200"/>
              </a:spcAft>
            </a:pPr>
            <a:r>
              <a:rPr sz="1090">
                <a:solidFill>
                  <a:srgbClr val="232323"/>
                </a:solidFill>
                <a:latin typeface="Consolas"/>
              </a:rPr>
              <a:t>import configparser</a:t>
            </a:r>
            <a:br/>
            <a:br/>
            <a:r>
              <a:rPr sz="1090">
                <a:solidFill>
                  <a:srgbClr val="232323"/>
                </a:solidFill>
                <a:latin typeface="Consolas"/>
              </a:rPr>
              <a:t># Interpolation enabled</a:t>
            </a:r>
            <a:br/>
            <a:r>
              <a:rPr sz="1090">
                <a:solidFill>
                  <a:srgbClr val="232323"/>
                </a:solidFill>
                <a:latin typeface="Consolas"/>
              </a:rPr>
              <a:t>config = configparser.ConfigParser()</a:t>
            </a:r>
            <a:br/>
            <a:br/>
            <a:r>
              <a:rPr sz="1090">
                <a:solidFill>
                  <a:srgbClr val="232323"/>
                </a:solidFill>
                <a:latin typeface="Consolas"/>
              </a:rPr>
              <a:t># Disable interpolation</a:t>
            </a:r>
            <a:br/>
            <a:r>
              <a:rPr sz="1090">
                <a:solidFill>
                  <a:srgbClr val="232323"/>
                </a:solidFill>
                <a:latin typeface="Consolas"/>
              </a:rPr>
              <a:t>config = configparser.ConfigParser(interpolation=None)</a:t>
            </a:r>
            <a:br/>
            <a:br/>
            <a:r>
              <a:rPr sz="1090">
                <a:solidFill>
                  <a:srgbClr val="232323"/>
                </a:solidFill>
                <a:latin typeface="Consolas"/>
              </a:rPr>
              <a:t>config.read('C:/tinitiate/test-data1.ini')</a:t>
            </a:r>
          </a:p>
          <a:p>
            <a:pPr>
              <a:lnSpc>
                <a:spcPct val="74000"/>
              </a:lnSpc>
              <a:spcBef>
                <a:spcPts val="0"/>
              </a:spcBef>
              <a:spcAft>
                <a:spcPts val="300"/>
              </a:spcAft>
            </a:pPr>
            <a:r>
              <a:rPr sz="1180">
                <a:solidFill>
                  <a:srgbClr val="232323"/>
                </a:solidFill>
                <a:latin typeface="Aptos"/>
              </a:rPr>
              <a:t>The source demonstrates reading data_dir, file_name, and the resolved file_path.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172200" cy="42062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 Display"/>
              </a:rPr>
              <a:t>Enable or Disable Interpolation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7824"/>
            <a:ext cx="8229600" cy="3392424"/>
          </a:xfrm>
        </p:spPr>
        <p:txBody>
          <a:bodyPr wrap="square" lIns="36576" rIns="36576" tIns="9144" bIns="9144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275387"/>
                </a:solidFill>
              </a:defRPr>
            </a:pPr>
            <a:r>
              <a:rPr sz="1400">
                <a:solidFill>
                  <a:srgbClr val="232323"/>
                </a:solidFill>
                <a:latin typeface="Aptos"/>
              </a:rPr>
              <a:t>1. Create a ConfigParser object.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300"/>
              </a:spcAft>
            </a:pPr>
            <a:r>
              <a:rPr sz="1400">
                <a:solidFill>
                  <a:srgbClr val="232323"/>
                </a:solidFill>
                <a:latin typeface="Aptos"/>
              </a:rPr>
              <a:t>2. Read an existing .ini file with config.read().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300"/>
              </a:spcAft>
            </a:pPr>
            <a:r>
              <a:rPr sz="1400">
                <a:solidFill>
                  <a:srgbClr val="232323"/>
                </a:solidFill>
                <a:latin typeface="Aptos"/>
              </a:rPr>
              <a:t>3. Access settings by section and option.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300"/>
              </a:spcAft>
            </a:pPr>
            <a:r>
              <a:rPr sz="1400">
                <a:solidFill>
                  <a:srgbClr val="232323"/>
                </a:solidFill>
                <a:latin typeface="Aptos"/>
              </a:rPr>
              <a:t>4. Create or update sections and options.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300"/>
              </a:spcAft>
            </a:pPr>
            <a:r>
              <a:rPr sz="1400">
                <a:solidFill>
                  <a:srgbClr val="232323"/>
                </a:solidFill>
                <a:latin typeface="Aptos"/>
              </a:rPr>
              <a:t>5. Write the configuration with config.write().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300"/>
              </a:spcAft>
            </a:pPr>
            <a:r>
              <a:rPr sz="1400">
                <a:solidFill>
                  <a:srgbClr val="232323"/>
                </a:solidFill>
                <a:latin typeface="Aptos"/>
              </a:rPr>
              <a:t>ConfigParser provides a simple way to keep application settings outside the Python source code.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172200" cy="420624"/>
          </a:xfrm>
          <a:prstGeom prst="rect">
            <a:avLst/>
          </a:prstGeom>
          <a:noFill/>
        </p:spPr>
        <p:txBody>
          <a:bodyPr wrap="square" lIns="27432" rIns="27432" tIns="9144" bIns="9144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ptos Display"/>
              </a:rPr>
              <a:t>ConfigParser Workflow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